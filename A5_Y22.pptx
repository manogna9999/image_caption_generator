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72" r:id="rId11"/>
    <p:sldId id="273" r:id="rId12"/>
    <p:sldId id="269" r:id="rId13"/>
    <p:sldId id="270" r:id="rId14"/>
    <p:sldId id="271" r:id="rId15"/>
  </p:sldIdLst>
  <p:sldSz cx="18288000" cy="10287000"/>
  <p:notesSz cx="6858000" cy="9144000"/>
  <p:embeddedFontLst>
    <p:embeddedFont>
      <p:font typeface="Abhaya Libre" panose="020B0604020202020204" charset="0"/>
      <p:regular r:id="rId16"/>
    </p:embeddedFont>
    <p:embeddedFont>
      <p:font typeface="Abhaya Libre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1903172" cy="10287000"/>
            <a:chOff x="0" y="0"/>
            <a:chExt cx="2537563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1268782" y="0"/>
              <a:ext cx="1268782" cy="13716000"/>
              <a:chOff x="0" y="0"/>
              <a:chExt cx="250624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0624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50624" h="2709333">
                    <a:moveTo>
                      <a:pt x="0" y="0"/>
                    </a:moveTo>
                    <a:lnTo>
                      <a:pt x="250624" y="0"/>
                    </a:lnTo>
                    <a:lnTo>
                      <a:pt x="25062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50624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1268782" cy="13716000"/>
              <a:chOff x="0" y="0"/>
              <a:chExt cx="250624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50624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250624" h="2709333">
                    <a:moveTo>
                      <a:pt x="0" y="0"/>
                    </a:moveTo>
                    <a:lnTo>
                      <a:pt x="250624" y="0"/>
                    </a:lnTo>
                    <a:lnTo>
                      <a:pt x="25062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50624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3171521" y="1066329"/>
            <a:ext cx="12581751" cy="214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Image Caption Generation using ResNET-50 and LSTM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40650" y="5322123"/>
            <a:ext cx="9857429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Team-5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1) B.Manogna- Y22CM011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2) G.Thandava Krishna- Y22CM051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3) Ch.Madhavi- Y22CM032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95320" y="4262906"/>
            <a:ext cx="5856410" cy="66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Guide: N.Srikanth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9598" y="2240280"/>
            <a:ext cx="15639702" cy="701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556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Generating meaningful textual descriptions (captions) from images remains a challenging task, because it requires a deep understanding of image content and how objects relate.</a:t>
            </a:r>
          </a:p>
          <a:p>
            <a:pPr marL="755651" lvl="1" indent="-377825" algn="just">
              <a:lnSpc>
                <a:spcPts val="556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Unlike object classification (just naming what’s in an image), image captioning must describe relationships, context, and semantics (who, what, where) in natural language. </a:t>
            </a:r>
          </a:p>
          <a:p>
            <a:pPr marL="755651" lvl="1" indent="-377825" algn="just">
              <a:lnSpc>
                <a:spcPts val="556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proposed work leverages a combination of vision and language models — specifically, the CNN ResNet‑50 and the RNN variant LSTM — to bridge image content and text.</a:t>
            </a:r>
          </a:p>
          <a:p>
            <a:pPr algn="just">
              <a:lnSpc>
                <a:spcPts val="5565"/>
              </a:lnSpc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03793" y="933450"/>
            <a:ext cx="451328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ctr">
              <a:lnSpc>
                <a:spcPts val="6299"/>
              </a:lnSpc>
              <a:buAutoNum type="arabicPeriod"/>
            </a:pPr>
            <a:r>
              <a:rPr lang="en-US" sz="45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67101" y="1651895"/>
            <a:ext cx="14659328" cy="814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Literature Survey: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Early methods: Basic CNN + RNN models, moderate accuracy (~40–50%).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Recent works improved context understanding but still lack fluency.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Existing studies highlight the power of </a:t>
            </a:r>
            <a:r>
              <a:rPr lang="en-US" sz="3500" dirty="0" err="1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ResNet</a:t>
            </a: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-based encoders for feature learning.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Proposed Solution: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Encoder: ResNet-50 extracts rich image representations.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Decoder: LSTM generates captions word-by-word using visual embeddings.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Pipeline: Image → ResNet-50 → Feature Vector → LSTM → Caption.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Outperforms previous models in semantic accuracy and naturalness of generated captions.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14422" y="778088"/>
            <a:ext cx="5301377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2. Literature Survey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71524" y="1790700"/>
            <a:ext cx="15864064" cy="8774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Research Gap: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•Existing models often generate incomplete or contextually weak captions.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•Difficult to maintain semantic relevance and sentence fluency simultaneously.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Project Objectives: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•Develop hybrid CNN–LSTM models for image captioning.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•Use ResNet-50 as encoder to capture deep image features.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•Employ LSTM decoder to generate grammatically correct captions.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•Train on benchmark dataset Flickr8k for performance evaluation.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•Build interactive </a:t>
            </a:r>
            <a:r>
              <a:rPr lang="en-US" sz="3500" dirty="0" err="1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Streamlit</a:t>
            </a: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web app with URL/camera/upload options.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•Integrate text-to-speech audio narration for generated captions.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•Achieve improved BLEU accuracy and caption coherence compared to earlier models.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557712" y="778088"/>
            <a:ext cx="9691688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3. Research Gap and 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0200" y="2781300"/>
            <a:ext cx="15613323" cy="624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3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system follows an encoder–decoder architecture for image captioning. It consists of a visual encoder and a language decoder.</a:t>
            </a:r>
          </a:p>
          <a:p>
            <a:pPr marL="755651" lvl="1" indent="-377825" algn="just">
              <a:lnSpc>
                <a:spcPts val="493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encoder uses CNN models to extract image features. Models include VGG16, and ResNet50.</a:t>
            </a:r>
          </a:p>
          <a:p>
            <a:pPr marL="755651" lvl="1" indent="-377825" algn="just">
              <a:lnSpc>
                <a:spcPts val="493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decoder generates captions using sequential model LSTM.</a:t>
            </a:r>
          </a:p>
          <a:p>
            <a:pPr marL="755651" lvl="1" indent="-377825" algn="just">
              <a:lnSpc>
                <a:spcPts val="493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Image features are combined with word embeddings. Captions are generated one word at a time.</a:t>
            </a:r>
          </a:p>
          <a:p>
            <a:pPr marL="755651" lvl="1" indent="-377825" algn="just">
              <a:lnSpc>
                <a:spcPts val="493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Different CNN–RNN combinations are implemented.</a:t>
            </a:r>
          </a:p>
          <a:p>
            <a:pPr marL="755651" lvl="1" indent="-377825" algn="just">
              <a:lnSpc>
                <a:spcPts val="493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Their performance is compared using BLEU score and accuracy.</a:t>
            </a:r>
          </a:p>
          <a:p>
            <a:pPr algn="just">
              <a:lnSpc>
                <a:spcPts val="4610"/>
              </a:lnSpc>
            </a:pPr>
            <a:endParaRPr lang="en-US" sz="350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81750" y="793105"/>
            <a:ext cx="445496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4. Proposed Model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429000" y="1104900"/>
            <a:ext cx="12496800" cy="6019800"/>
          </a:xfrm>
          <a:custGeom>
            <a:avLst/>
            <a:gdLst/>
            <a:ahLst/>
            <a:cxnLst/>
            <a:rect l="l" t="t" r="r" b="b"/>
            <a:pathLst>
              <a:path w="13065969" h="6424115">
                <a:moveTo>
                  <a:pt x="0" y="0"/>
                </a:moveTo>
                <a:lnTo>
                  <a:pt x="13065969" y="0"/>
                </a:lnTo>
                <a:lnTo>
                  <a:pt x="13065969" y="6424115"/>
                </a:lnTo>
                <a:lnTo>
                  <a:pt x="0" y="6424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9" b="-80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13842" y="7581900"/>
            <a:ext cx="7327116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Fig. Working model of Proposed system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1711" y="2266943"/>
            <a:ext cx="14894597" cy="287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01"/>
              </a:lnSpc>
            </a:pPr>
            <a:r>
              <a:rPr lang="en-US" sz="327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Flickr8k is a benchmark dataset containing 8,000 images.</a:t>
            </a:r>
          </a:p>
          <a:p>
            <a:pPr marL="705993" lvl="1" indent="-352996" algn="just">
              <a:lnSpc>
                <a:spcPts val="4676"/>
              </a:lnSpc>
              <a:buFont typeface="Arial"/>
              <a:buChar char="•"/>
            </a:pPr>
            <a:r>
              <a:rPr lang="en-US" sz="327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Each image is associated with five human-annotated captions.</a:t>
            </a:r>
          </a:p>
          <a:p>
            <a:pPr marL="705993" lvl="1" indent="-352996" algn="just">
              <a:lnSpc>
                <a:spcPts val="4676"/>
              </a:lnSpc>
              <a:buFont typeface="Arial"/>
              <a:buChar char="•"/>
            </a:pPr>
            <a:r>
              <a:rPr lang="en-US" sz="327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dataset provides diverse scenes and objects.</a:t>
            </a:r>
          </a:p>
          <a:p>
            <a:pPr marL="705993" lvl="1" indent="-352996" algn="just">
              <a:lnSpc>
                <a:spcPts val="4676"/>
              </a:lnSpc>
              <a:buFont typeface="Arial"/>
              <a:buChar char="•"/>
            </a:pPr>
            <a:r>
              <a:rPr lang="en-US" sz="327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It is commonly used for evaluating image captioning models.</a:t>
            </a:r>
          </a:p>
          <a:p>
            <a:pPr algn="just">
              <a:lnSpc>
                <a:spcPts val="2963"/>
              </a:lnSpc>
            </a:pPr>
            <a:endParaRPr lang="en-US" sz="3270" dirty="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590800" y="5524500"/>
            <a:ext cx="13106400" cy="1981200"/>
          </a:xfrm>
          <a:custGeom>
            <a:avLst/>
            <a:gdLst/>
            <a:ahLst/>
            <a:cxnLst/>
            <a:rect l="l" t="t" r="r" b="b"/>
            <a:pathLst>
              <a:path w="12082197" h="1566211">
                <a:moveTo>
                  <a:pt x="0" y="0"/>
                </a:moveTo>
                <a:lnTo>
                  <a:pt x="12082197" y="0"/>
                </a:lnTo>
                <a:lnTo>
                  <a:pt x="12082197" y="1566210"/>
                </a:lnTo>
                <a:lnTo>
                  <a:pt x="0" y="1566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01000" y="838190"/>
            <a:ext cx="2792379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5. Datasets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28522" y="8020057"/>
            <a:ext cx="3830955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Fig. Dataset Description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00600" y="419100"/>
            <a:ext cx="9839150" cy="77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6. Algorithms used for 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EE397-C9D4-AF8A-A460-6324E99187AC}"/>
              </a:ext>
            </a:extLst>
          </p:cNvPr>
          <p:cNvSpPr txBox="1"/>
          <p:nvPr/>
        </p:nvSpPr>
        <p:spPr>
          <a:xfrm>
            <a:off x="1676400" y="1634847"/>
            <a:ext cx="153162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1. Image Feature Extraction Algorithm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Pre-trained Convolutional Neural Networks (CNNs): Utilized </a:t>
            </a:r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ResNet50 and VGG16 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models (pre-trained on ImageNet) to extract high-level features from input images.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Process: Images are resized to 224x224 pixels, preprocessed (e.g., normalization), and passed through the CNN to obtain feature vectors (e.g., 2048-dim for ResNet50, 4096-dim for VGG16).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Purpose: Captures semantic information from images without training the CNN from scratch, enabling efficient transfer learning.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2. Text Preprocessing and Tokenization Algorithm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Caption Cleaning: Convert text to lowercase, remove special characters/numbers, eliminate single characters, and add start/end tokens ("</a:t>
            </a:r>
            <a:r>
              <a:rPr lang="en-US" sz="3000" dirty="0" err="1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startseq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" and "</a:t>
            </a:r>
            <a:r>
              <a:rPr lang="en-US" sz="3000" dirty="0" err="1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endseq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").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Tokenization: Use </a:t>
            </a:r>
            <a:r>
              <a:rPr lang="en-US" sz="3000" dirty="0" err="1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Keras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 Tokenizer to convert captions into sequences of integers, building a vocabulary and determining maximum sequence length.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Purpose: Prepares textual data for sequence modeling, ensuring consistency and handling variable-length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24400" y="571500"/>
            <a:ext cx="9982200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6. Algorithm used for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D9231-26DD-F7C2-A6F4-8A304B9E308A}"/>
              </a:ext>
            </a:extLst>
          </p:cNvPr>
          <p:cNvSpPr txBox="1"/>
          <p:nvPr/>
        </p:nvSpPr>
        <p:spPr>
          <a:xfrm>
            <a:off x="1828800" y="1866900"/>
            <a:ext cx="14935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3. Sequence-to-Sequence (Seq2Seq) Modeling with Encoder-Decoder Architecture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i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Encoder: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 Processes image features through dense layers to reduce dimensionality (e.g., to 256 units).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Decoder: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 Employs Long Short-Term Memory (LSTM) networks for generating captions word-by-word, combining image features with partial text sequences.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Attention Mechanism: 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Uses dot-product attention to focus on relevant parts of the image features during decoding, improving caption relevance.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Training: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 Uses data generators create batches of image features + partial captions as inputs, predicting the next word.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Purpose: 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Enables end-to-end training for generating coherent, context-aware captions from images.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765C15-016B-A913-4998-222D703B4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678" y="7353300"/>
            <a:ext cx="12033643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8DB51-911A-C308-E9F2-EEA3AE26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60C87E-7D94-2BEF-55C5-39B11DBC34BE}"/>
              </a:ext>
            </a:extLst>
          </p:cNvPr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EB600D-7362-3479-2D8F-53683A406FCF}"/>
                </a:ext>
              </a:extLst>
            </p:cNvPr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9BA3B9-56EE-B04A-05BA-10566F76700B}"/>
                </a:ext>
              </a:extLst>
            </p:cNvPr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96CF665-080B-795B-8E99-6A6512005465}"/>
              </a:ext>
            </a:extLst>
          </p:cNvPr>
          <p:cNvSpPr txBox="1"/>
          <p:nvPr/>
        </p:nvSpPr>
        <p:spPr>
          <a:xfrm>
            <a:off x="4724400" y="571500"/>
            <a:ext cx="9982200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6. Algorithm used for 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C513A-6E54-510C-A1D5-43CF9CAD6640}"/>
              </a:ext>
            </a:extLst>
          </p:cNvPr>
          <p:cNvSpPr txBox="1"/>
          <p:nvPr/>
        </p:nvSpPr>
        <p:spPr>
          <a:xfrm>
            <a:off x="1752600" y="1714500"/>
            <a:ext cx="15697200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4. Inference and Caption Generation Algorithm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Starts with "</a:t>
            </a:r>
            <a:r>
              <a:rPr lang="en-US" sz="3000" dirty="0" err="1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startseq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", predicts the next word iteratively using the trained model, appends words until "</a:t>
            </a:r>
            <a:r>
              <a:rPr lang="en-US" sz="3000" dirty="0" err="1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endseq</a:t>
            </a:r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" or max length is reached.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Post-Processing: Removes start/end tokens and strips extra spaces for clean output.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Purpose: Converts model predictions into human-readable captions for new images.</a:t>
            </a:r>
          </a:p>
          <a:p>
            <a:pPr algn="just"/>
            <a:endParaRPr lang="en-US" sz="3000" dirty="0">
              <a:solidFill>
                <a:srgbClr val="000000"/>
              </a:solidFill>
              <a:latin typeface="Abhaya Libre" panose="020B0604020202020204" charset="0"/>
              <a:cs typeface="Abhaya Libre" panose="020B0604020202020204" charset="0"/>
            </a:endParaRPr>
          </a:p>
          <a:p>
            <a:pPr algn="just"/>
            <a:r>
              <a:rPr lang="en-IN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5. Evaluation Algorithm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BLEU Score Calculation: Computes BLEU-1 to BLEU-4 metrics by comparing generated captions against ground-truth references using NLTK's corpus bleu with smoothing functions.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Purpose: Quantifies caption quality based on n-gram overlap, assessing model performance on unseen data.</a:t>
            </a:r>
          </a:p>
          <a:p>
            <a:pPr algn="just"/>
            <a:endParaRPr lang="en-US" sz="3000" dirty="0">
              <a:solidFill>
                <a:srgbClr val="000000"/>
              </a:solidFill>
              <a:latin typeface="Abhaya Libre" panose="020B0604020202020204" charset="0"/>
              <a:cs typeface="Abhaya Libre" panose="020B0604020202020204" charset="0"/>
            </a:endParaRPr>
          </a:p>
          <a:p>
            <a:pPr algn="just"/>
            <a:r>
              <a:rPr lang="en-IN" sz="3000" b="1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Key Differences Between Implementations: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ResNet50 + LSTM: Simpler decoder with residual connections; focuses on basic seq2seq without explicit attention.</a:t>
            </a:r>
          </a:p>
          <a:p>
            <a:pPr algn="just"/>
            <a:r>
              <a:rPr lang="en-US" sz="3000" dirty="0">
                <a:solidFill>
                  <a:srgbClr val="000000"/>
                </a:solidFill>
                <a:latin typeface="Abhaya Libre" panose="020B0604020202020204" charset="0"/>
                <a:cs typeface="Abhaya Libre" panose="020B0604020202020204" charset="0"/>
              </a:rPr>
              <a:t>VGG16 + LSTM: Includes bidirectional LSTMs and attention mechanism for better context handling; uses a more customized decoder.</a:t>
            </a:r>
          </a:p>
        </p:txBody>
      </p:sp>
    </p:spTree>
    <p:extLst>
      <p:ext uri="{BB962C8B-B14F-4D97-AF65-F5344CB8AC3E}">
        <p14:creationId xmlns:p14="http://schemas.microsoft.com/office/powerpoint/2010/main" val="105884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74CB9-C6F7-E567-13B2-712E040D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8DA18D-BA32-C748-B810-1F3ED7191E58}"/>
              </a:ext>
            </a:extLst>
          </p:cNvPr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A4D65C-F06C-6BE9-2872-63979A30897D}"/>
                </a:ext>
              </a:extLst>
            </p:cNvPr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4509BBD-C25B-6F52-D21E-4E6A2B0BDDAB}"/>
                </a:ext>
              </a:extLst>
            </p:cNvPr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38E010D-8384-EAC0-6653-F779A107E809}"/>
              </a:ext>
            </a:extLst>
          </p:cNvPr>
          <p:cNvSpPr txBox="1"/>
          <p:nvPr/>
        </p:nvSpPr>
        <p:spPr>
          <a:xfrm>
            <a:off x="4724400" y="571500"/>
            <a:ext cx="9982200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7. Results and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54DFA-02A0-3F12-0E80-8AE7C2A25533}"/>
              </a:ext>
            </a:extLst>
          </p:cNvPr>
          <p:cNvSpPr txBox="1"/>
          <p:nvPr/>
        </p:nvSpPr>
        <p:spPr>
          <a:xfrm>
            <a:off x="1676400" y="1790700"/>
            <a:ext cx="1493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Abhaya Libre" panose="020B0604020202020204" charset="0"/>
                <a:cs typeface="Abhaya Libre" panose="020B0604020202020204" charset="0"/>
              </a:rPr>
              <a:t>ResNet50 outperforms VGG16 by </a:t>
            </a:r>
            <a:r>
              <a:rPr lang="en-US" sz="3000" b="1" i="0" dirty="0">
                <a:effectLst/>
                <a:latin typeface="Abhaya Libre" panose="020B0604020202020204" charset="0"/>
                <a:cs typeface="Abhaya Libre" panose="020B0604020202020204" charset="0"/>
              </a:rPr>
              <a:t>37.6% in BLEU-1</a:t>
            </a:r>
            <a:r>
              <a:rPr lang="en-US" sz="3000" b="0" i="0" dirty="0">
                <a:effectLst/>
                <a:latin typeface="Abhaya Libre" panose="020B0604020202020204" charset="0"/>
                <a:cs typeface="Abhaya Libre" panose="020B0604020202020204" charset="0"/>
              </a:rPr>
              <a:t>, demonstrating deeper CNNs capture superior image features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Abhaya Libre" panose="020B0604020202020204" charset="0"/>
                <a:cs typeface="Abhaya Libre" panose="020B0604020202020204" charset="0"/>
              </a:rPr>
              <a:t>Sample Caption Predictions:</a:t>
            </a:r>
          </a:p>
          <a:p>
            <a:pPr algn="just"/>
            <a:endParaRPr lang="en-US" sz="3000" b="0" i="0" dirty="0">
              <a:effectLst/>
              <a:latin typeface="Abhaya Libre" panose="020B0604020202020204" charset="0"/>
              <a:cs typeface="Abhaya Libre" panose="020B060402020202020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67B257-E6B2-290D-EEFC-3E3A1E7D8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85160"/>
              </p:ext>
            </p:extLst>
          </p:nvPr>
        </p:nvGraphicFramePr>
        <p:xfrm>
          <a:off x="2895600" y="3467100"/>
          <a:ext cx="1196340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9295596"/>
                    </a:ext>
                  </a:extLst>
                </a:gridCol>
                <a:gridCol w="6146800">
                  <a:extLst>
                    <a:ext uri="{9D8B030D-6E8A-4147-A177-3AD203B41FA5}">
                      <a16:colId xmlns:a16="http://schemas.microsoft.com/office/drawing/2014/main" val="2092701760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1417160191"/>
                    </a:ext>
                  </a:extLst>
                </a:gridCol>
              </a:tblGrid>
              <a:tr h="275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Image Type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ResNet50 Generated Caption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VGG16 Generated Caption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6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Doctor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"woman in lab coat holding clipboard and stethoscope"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"woman in white coat"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063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Sky scene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"man is flying kite in the sky"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"view of cloudy sky"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02848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628EB30-D9D4-3326-4749-84A8B0787C0E}"/>
              </a:ext>
            </a:extLst>
          </p:cNvPr>
          <p:cNvSpPr txBox="1"/>
          <p:nvPr/>
        </p:nvSpPr>
        <p:spPr>
          <a:xfrm>
            <a:off x="1676400" y="4866501"/>
            <a:ext cx="9158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0" i="0" dirty="0">
                <a:effectLst/>
                <a:latin typeface="Abhaya Libre" panose="020B0604020202020204" charset="0"/>
                <a:cs typeface="Abhaya Libre" panose="020B0604020202020204" charset="0"/>
              </a:rPr>
              <a:t>Web Application Results: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25E654B-31F8-F1FA-9C27-0BE080C351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36" y="5632409"/>
            <a:ext cx="6404451" cy="36025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8AE8476-6F20-DFCC-9540-0BDAC53546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790" y="5631180"/>
            <a:ext cx="6404451" cy="360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7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34200" y="647700"/>
            <a:ext cx="4062114" cy="77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5" lvl="1" algn="ctr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8.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2600" y="1714500"/>
            <a:ext cx="15621000" cy="5482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Abhaya Libre" panose="020B0604020202020204" charset="0"/>
                <a:cs typeface="Abhaya Libre" panose="020B0604020202020204" charset="0"/>
              </a:rPr>
              <a:t>Image captioning system successfully deployed</a:t>
            </a:r>
            <a:r>
              <a:rPr lang="en-IN" sz="3000" dirty="0">
                <a:latin typeface="Abhaya Libre" panose="020B0604020202020204" charset="0"/>
                <a:cs typeface="Abhaya Libre" panose="020B0604020202020204" charset="0"/>
              </a:rPr>
              <a:t> with </a:t>
            </a:r>
            <a:r>
              <a:rPr lang="en-IN" sz="3000" dirty="0" err="1">
                <a:latin typeface="Abhaya Libre" panose="020B0604020202020204" charset="0"/>
                <a:cs typeface="Abhaya Libre" panose="020B0604020202020204" charset="0"/>
              </a:rPr>
              <a:t>Streamlit</a:t>
            </a:r>
            <a:r>
              <a:rPr lang="en-IN" sz="3000" dirty="0">
                <a:latin typeface="Abhaya Libre" panose="020B0604020202020204" charset="0"/>
                <a:cs typeface="Abhaya Libre" panose="020B0604020202020204" charset="0"/>
              </a:rPr>
              <a:t> web app (URL/camera/upload inputs)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Abhaya Libre" panose="020B0604020202020204" charset="0"/>
                <a:cs typeface="Abhaya Libre" panose="020B0604020202020204" charset="0"/>
              </a:rPr>
              <a:t>Dual CNN-LSTM models trained on Flickr8k</a:t>
            </a:r>
            <a:r>
              <a:rPr lang="en-IN" sz="3000" dirty="0">
                <a:latin typeface="Abhaya Libre" panose="020B0604020202020204" charset="0"/>
                <a:cs typeface="Abhaya Libre" panose="020B0604020202020204" charset="0"/>
              </a:rPr>
              <a:t>: ResNet50+LSTM &amp; VGG16+LSTM architectures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Abhaya Libre" panose="020B0604020202020204" charset="0"/>
                <a:cs typeface="Abhaya Libre" panose="020B0604020202020204" charset="0"/>
              </a:rPr>
              <a:t>Audio narration integrated</a:t>
            </a:r>
            <a:r>
              <a:rPr lang="en-IN" sz="3000" dirty="0">
                <a:latin typeface="Abhaya Libre" panose="020B0604020202020204" charset="0"/>
                <a:cs typeface="Abhaya Libre" panose="020B0604020202020204" charset="0"/>
              </a:rPr>
              <a:t> for accessibility using text-to-speech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Abhaya Libre" panose="020B0604020202020204" charset="0"/>
                <a:cs typeface="Abhaya Libre" panose="020B0604020202020204" charset="0"/>
              </a:rPr>
              <a:t>ResNet50+LSTM outperforms VGG16</a:t>
            </a:r>
            <a:r>
              <a:rPr lang="en-IN" sz="3000" dirty="0">
                <a:latin typeface="Abhaya Libre" panose="020B0604020202020204" charset="0"/>
                <a:cs typeface="Abhaya Libre" panose="020B0604020202020204" charset="0"/>
              </a:rPr>
              <a:t> by significant margin (BLEU: 0.754 vs 0.547)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Abhaya Libre" panose="020B0604020202020204" charset="0"/>
                <a:cs typeface="Abhaya Libre" panose="020B0604020202020204" charset="0"/>
              </a:rPr>
              <a:t>CNN-LSTM framework validated</a:t>
            </a:r>
            <a:r>
              <a:rPr lang="en-IN" sz="3000" dirty="0">
                <a:latin typeface="Abhaya Libre" panose="020B0604020202020204" charset="0"/>
                <a:cs typeface="Abhaya Libre" panose="020B0604020202020204" charset="0"/>
              </a:rPr>
              <a:t> for production-ready image caption generation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Abhaya Libre" panose="020B0604020202020204" charset="0"/>
                <a:cs typeface="Abhaya Libre" panose="020B0604020202020204" charset="0"/>
              </a:rPr>
              <a:t>Results demonstrate superior performance of deeper CNN encoders with LSTM decoders for accurate, fluent captions.</a:t>
            </a:r>
            <a:endParaRPr lang="en-IN" sz="3000" dirty="0">
              <a:latin typeface="Abhaya Libre" panose="020B0604020202020204" charset="0"/>
              <a:cs typeface="Abhaya Libre" panose="020B060402020202020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5EE9B2-E614-01E6-3D6E-4103A8C95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272427"/>
              </p:ext>
            </p:extLst>
          </p:nvPr>
        </p:nvGraphicFramePr>
        <p:xfrm>
          <a:off x="3886200" y="7749540"/>
          <a:ext cx="9525000" cy="118872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3240294428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858149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Model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BLEU-1 Score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52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ResNet50+LSTM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0.7540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0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VGG16+LSTM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0.5479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067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944500" y="933450"/>
            <a:ext cx="3952100" cy="781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5" lvl="1" algn="ctr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9. 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64327" y="2123631"/>
            <a:ext cx="15013795" cy="680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[1] Goyal, D., Prasad, S. (2022) “Performance enhancement of image captioning technique using machine learning approach” Mathematical Statistician and Engineering Applications 71(3s2), 2054–2066.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[2] Omri, M., Abdel-Khalek, S., Khalil, E.M., Bouslimi, J., Joshi, G.P. (2022) “Modeling of hyperparameter tuned deep learning model for automated image captioning” Mathematics 10(3), 288.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[3] Ulyanov, D., Vedaldi, A., Lempitsky, V. (2016) “Instance normalization: The missing ingredient for fast stylization” arXiv preprint arXiv:1607.08022. [7] Lu, J., Xiong, C., Parikh,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951586" cy="10287000"/>
            <a:chOff x="0" y="0"/>
            <a:chExt cx="25062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24" cy="2709333"/>
            </a:xfrm>
            <a:custGeom>
              <a:avLst/>
              <a:gdLst/>
              <a:ahLst/>
              <a:cxnLst/>
              <a:rect l="l" t="t" r="r" b="b"/>
              <a:pathLst>
                <a:path w="250624" h="2709333">
                  <a:moveTo>
                    <a:pt x="0" y="0"/>
                  </a:moveTo>
                  <a:lnTo>
                    <a:pt x="250624" y="0"/>
                  </a:lnTo>
                  <a:lnTo>
                    <a:pt x="250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50392" y="3248215"/>
            <a:ext cx="11241021" cy="3335519"/>
          </a:xfrm>
          <a:custGeom>
            <a:avLst/>
            <a:gdLst/>
            <a:ahLst/>
            <a:cxnLst/>
            <a:rect l="l" t="t" r="r" b="b"/>
            <a:pathLst>
              <a:path w="11241021" h="3335519">
                <a:moveTo>
                  <a:pt x="0" y="0"/>
                </a:moveTo>
                <a:lnTo>
                  <a:pt x="11241021" y="0"/>
                </a:lnTo>
                <a:lnTo>
                  <a:pt x="11241021" y="3335518"/>
                </a:lnTo>
                <a:lnTo>
                  <a:pt x="0" y="333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82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1211</Words>
  <Application>Microsoft Office PowerPoint</Application>
  <PresentationFormat>Custom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Abhaya Libre Bold</vt:lpstr>
      <vt:lpstr>Abhaya Libre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A5_Y22</dc:title>
  <cp:lastModifiedBy>Manogna Bandlamudi</cp:lastModifiedBy>
  <cp:revision>4</cp:revision>
  <dcterms:created xsi:type="dcterms:W3CDTF">2006-08-16T00:00:00Z</dcterms:created>
  <dcterms:modified xsi:type="dcterms:W3CDTF">2026-03-23T17:43:33Z</dcterms:modified>
  <dc:identifier>DAG20cePZDQ</dc:identifier>
</cp:coreProperties>
</file>